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2A900"/>
                </a:solidFill>
                <a:latin typeface="Segoe UI"/>
              </a:rPr>
              <a:t>UNAD · ECBTI · CURSO BIG DATA (202016911) · OCTUBRE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502920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Segoe UI"/>
              </a:rPr>
              <a:t>Tarea 3 · Grupo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77240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  <a:latin typeface="Segoe UI"/>
              </a:rPr>
              <a:t>Plataforma Integral de Analítica Ambiental Big Data:
Procesamiento Batch y Streaming con Apache Spark y Apache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CBD5E1"/>
                </a:solidFill>
                <a:latin typeface="Segoe UI"/>
              </a:rPr>
              <a:t>Arquitectura distribuida en memoria y flujo de eventos en tiempo real para el monitoreo de calidad del aire y correlación meteorológica en Colombia (SISAIRE – 60.000 registros)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166360"/>
            <a:ext cx="10817352" cy="11430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ESTUDIANTE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Paulo Andrés De los Reyes González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C.C. 1143451533 · Grupo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53035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PROGRAMA ACADÉMICO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Ingeniería de Sistemas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Escuela de Ciencias Básicas, Tecnología e Ingeniería (ECBTI)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530352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TUTOR DEL CURSO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Ing. Fidias Rafael Barros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Universidad Nacional Abierta y a Distancia (UNAD)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01 · CONTEXTO Y FUENTE OFICIAL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Definición del Problema y Conjunto de Datos Seleccionado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931920" cy="5166360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2A900"/>
                </a:solidFill>
                <a:latin typeface="Segoe UI"/>
              </a:rPr>
              <a:t>60.000</a:t>
            </a:r>
          </a:p>
          <a:p>
            <a:r>
              <a:rPr sz="1400" b="1">
                <a:solidFill>
                  <a:srgbClr val="FFFFFF"/>
                </a:solidFill>
                <a:latin typeface="Segoe UI"/>
              </a:rPr>
              <a:t>Registros horarios auditados (Año 2026)
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Fuente Oficial Pública:
</a:t>
            </a:r>
            <a:r>
              <a:rPr sz="1080">
                <a:solidFill>
                  <a:srgbClr val="E2E8F0"/>
                </a:solidFill>
                <a:latin typeface="Segoe UI"/>
              </a:rPr>
              <a:t>Portal de Datos Abiertos de Colombia (datos.gov.co) – Subsistema de Información sobre Calidad del Aire (SISAIRE / IDEAM).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Cobertura Geográfica:
</a:t>
            </a:r>
            <a:r>
              <a:rPr sz="1080">
                <a:solidFill>
                  <a:srgbClr val="E2E8F0"/>
                </a:solidFill>
                <a:latin typeface="Segoe UI"/>
              </a:rPr>
              <a:t>5 departamentos principales (Bogotá D.C., Antioquia, Valle del Cauca, Santander y Atlántico) y 15 estaciones críticas.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Archivo del Dataset:
</a:t>
            </a:r>
            <a:r>
              <a:rPr sz="1080">
                <a:solidFill>
                  <a:srgbClr val="E2E8F0"/>
                </a:solidFill>
                <a:latin typeface="Segoe UI"/>
              </a:rPr>
              <a:t>dataset/calidad_aire_colombia.csv (9 columnas estructuradas: fecha_hora, departamento, municipio, estacion, contaminante, concentracion, unidad, temperatura, humedad e ICA).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234440"/>
            <a:ext cx="6931152" cy="2423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371600"/>
            <a:ext cx="6492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Problemática Ambiental y Tecnológica a Resolver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Riesgo en Salud Pública:</a:t>
            </a:r>
            <a:r>
              <a:rPr sz="1120">
                <a:solidFill>
                  <a:srgbClr val="0F172A"/>
                </a:solidFill>
                <a:latin typeface="Segoe UI"/>
              </a:rPr>
              <a:t> Necesidad de identificar focos críticos de material particulado respirable (PM2.5 y PM10) que superan los umbrales de la OMS y la Resolución 2254 del Ministerio de Ambiente.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Cuello de Botella en RDBMS Tradicionales:</a:t>
            </a:r>
            <a:r>
              <a:rPr sz="1120">
                <a:solidFill>
                  <a:srgbClr val="0F172A"/>
                </a:solidFill>
                <a:latin typeface="Segoe UI"/>
              </a:rPr>
              <a:t> Las bases relacionales presentan alta latencia al cruzar millones de lecturas históricas con variables meteorológicas (temperatura y humedad) y son incapaces de ingerir ráfagas IoT segundo a segundo.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Solución Big Data (Arquitectura Lambda):</a:t>
            </a:r>
            <a:r>
              <a:rPr sz="1120">
                <a:solidFill>
                  <a:srgbClr val="0F172A"/>
                </a:solidFill>
                <a:latin typeface="Segoe UI"/>
              </a:rPr>
              <a:t> Combinación de procesamiento masivo en memoria (PySpark Batch) con ingesta continua mediante colas de mensajería distribuida (Apache Kafka + Spark Structured Streaming).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840480"/>
            <a:ext cx="69311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3977639"/>
            <a:ext cx="6492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Variables Físico-Químicas y Meteorológicas Analizadas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Material Particulado (PM2.5 y PM10):</a:t>
            </a:r>
            <a:r>
              <a:rPr sz="1120">
                <a:solidFill>
                  <a:srgbClr val="0F172A"/>
                </a:solidFill>
                <a:latin typeface="Segoe UI"/>
              </a:rPr>
              <a:t> Concentraciones horarias en µg/m³ asociadas a combustión vehicular e industrial.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Gases Contaminantes Criterio:</a:t>
            </a:r>
            <a:r>
              <a:rPr sz="1120">
                <a:solidFill>
                  <a:srgbClr val="0F172A"/>
                </a:solidFill>
                <a:latin typeface="Segoe UI"/>
              </a:rPr>
              <a:t> Dióxido de Nitrógeno (NO2), Ozono Troposférico (O3), Dióxido de Azufre (SO2) y Monóxido de Carbono (CO).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Variables Climáticas y Clasificación ICA:</a:t>
            </a:r>
            <a:r>
              <a:rPr sz="1120">
                <a:solidFill>
                  <a:srgbClr val="0F172A"/>
                </a:solidFill>
                <a:latin typeface="Segoe UI"/>
              </a:rPr>
              <a:t> Temperatura ambiental (°C), Humedad Relativa (%) y categorización oficial del Índice de Calidad del Aire (Buena, Aceptable, Dañina a Grupos Sensibles, Dañina).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02 · INVESTIGACIÓN Y PARADIGMAS DE CÓMPUTO DISTRIBUIDO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Comparativa Hadoop vs. Spark, RDDs, DataFrames y Arquitectura Kafka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167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112"/>
                <a:gridCol w="4434840"/>
                <a:gridCol w="461772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Criterio Técnico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Hadoop (MapReduce / HDFS)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Spark (In-Memory / DAG)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1. Arquitectura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Almacenamiento HDFS en bloques de disco + gestor YARN.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Cómputo distribuido en memoria RAM basado en Grafos Acíclicos Dirigidos (DAG).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2. Procesamiento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Por lotes (Batch) en dos fases rígidas (Map y Reduce) con I/O en disco.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Unificado: Batch, SQL, Streaming en tiempo real, MLlib y GraphX en memoria.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3. Rendimiento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Alta latencia por serialización y escritura intermedia en disco físico.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Hasta 100x más veloz en RAM y 10x en disco gracias a Catalyst y Tungsten.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4. Tolerancia y Uso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Replicación de bloques (factor 3); ideal para ETL histórico masivo en frío.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Linaje de RDDs (reconstrucción de particiones); ideal para analítica interactiva e IoT.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RDDs: Propiedades y Operaciones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Inmutabilidad y Particionamiento: Colecciones distribuidas tolerantes a fallos mediante linaje DAG.
• Transformaciones (Lazy): map(), filter(), flatMap(), groupByKey(), reduceByKey().
• Acciones (Eager): collect(), count(), take(n), reduce().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DataFrames vs. RDDs (Ventajas)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Esquema Tipado: Organización tabular con metadatos de columnas (similar a SQL/Pandas).
• Optimizador Catalyst: Reordena filtros (predicate pushdown) y optimiza el plan lógico/físico.
• Motor Tungsten: Gestión de memoria Off-Heap y generación de bytecode Java sin sobrecarga GC.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0416" y="3886200"/>
            <a:ext cx="3739896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3296" y="4005072"/>
            <a:ext cx="33741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Arquitectura de Apache Kafka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Flujo: Producers (IoT) ➔ Broker Kafka (Topics divididos en Partitions con Offset secuencial) ➔ Consumers (Spark Streaming).
• Escalabilidad y Retención: Log inmutable en disco con replicación entre Brokers y coordinación de clúster vía ZooKeeper/KRaft.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03 · IMPLEMENTACIÓN Y EJECUCIÓN EN BATCH (PYSPARK)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Código Desarrollado (batch_analysis.py) y Salida Real en Consola Linux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1 · INGESTA CSV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Lectura de 60.000 registros con inferSchema=True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2152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2 · LIMPIEZA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Casting Double/Timestamp y filtro (59.091 válidos)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3 · API RDDs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filter(PM2.5), map() y reduceByKey() por depto.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6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4 · SPARK SQL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DataFrames groupBy, agg() y ranking de estaciones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11091672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ptura_batch_terminal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76272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04 · RESULTADOS DEL PROCESAMIENTO EN BATCH (PARTE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Concentración de Material Particulado por Departamento y Estaciones Críticas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1. Comparativo Departamental de PM10 y PM2.5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Santander (25.49 µg/m³) y Atlántico (25.12 µg/m³) registran las medias más altas de PM2.5, mientras que PM10 promedia 48.23 µg/m³ a nivel nacional.</a:t>
            </a:r>
          </a:p>
        </p:txBody>
      </p:sp>
      <p:pic>
        <p:nvPicPr>
          <p:cNvPr id="7" name="Picture 6" descr="figura1_pm_departa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2948"/>
            <a:ext cx="5138928" cy="25694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3. Top 7 Estaciones de Monitoreo más Críticas (PM2.5)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Centro Histórico (Barranquilla, 25.69 µg/m³ con picos de 66.33 µg/m³) y Centro Bucaramanga (25.66 µg/m³) lideran la criticidad por tráfico pesado.</a:t>
            </a:r>
          </a:p>
        </p:txBody>
      </p:sp>
      <p:pic>
        <p:nvPicPr>
          <p:cNvPr id="10" name="Picture 9" descr="figura3_top_estaciones_crit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129741"/>
            <a:ext cx="5138928" cy="2335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05 · RESULTADOS DEL PROCESAMIENTO EN BATCH (PARTE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Distribución del Índice de Calidad del Aire (ICA) y Correlación Climática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6A34A"/>
                </a:solidFill>
                <a:latin typeface="Segoe UI"/>
              </a:rPr>
              <a:t>70.6%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Buena (41.739 reg.)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9584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02855"/>
                </a:solidFill>
                <a:latin typeface="Segoe UI"/>
              </a:rPr>
              <a:t>26.3%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Aceptable (15.561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E87722"/>
                </a:solidFill>
                <a:latin typeface="Segoe UI"/>
              </a:rPr>
              <a:t>2.9%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Dañina Grupos Sensibles (1.696)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C2626"/>
                </a:solidFill>
                <a:latin typeface="Segoe UI"/>
              </a:rPr>
              <a:t>0.1%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Dañina Crítica (57 reg.)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ura2_distribucion_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9174"/>
            <a:ext cx="5138928" cy="28912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2855"/>
                </a:solidFill>
                <a:latin typeface="Segoe UI"/>
              </a:rPr>
              <a:t>Comportamiento Nacional ICA: </a:t>
            </a:r>
            <a:r>
              <a:rPr sz="1050">
                <a:solidFill>
                  <a:srgbClr val="0F172A"/>
                </a:solidFill>
                <a:latin typeface="Segoe UI"/>
              </a:rPr>
              <a:t>El 96.97% de las mediciones se ubica en rangos seguros (Buena/Aceptable), pero existe un 2.97% de episodios críticos que requieren alerta temprana.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ura4_dispersion_clima_contamin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27300"/>
            <a:ext cx="5138928" cy="2854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9944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Segoe UI"/>
              </a:rPr>
              <a:t>Efecto de Inversión Térmica: </a:t>
            </a:r>
            <a:r>
              <a:rPr sz="1050">
                <a:solidFill>
                  <a:srgbClr val="0F172A"/>
                </a:solidFill>
                <a:latin typeface="Segoe UI"/>
              </a:rPr>
              <a:t>Temperaturas bajas (12–18 °C) combinadas con alta humedad relativa (&gt;75%) encapsulan los contaminantes y disparan los picos de PM2.5.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06 · PROCESAMIENTO EN TIEMPO REAL (ANEXO 3 – 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Configuración del Clúster Kafka, Creación del Topic y Scripts en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1 · CLÚSTER ZOOKEEPER + KAFKA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Inicio de demonios en /opt/Kafka y creación del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2 · PRODUCTOR (kafka_producer.py)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Simulador telemétrico IoT que serializa lecturas JSON (sensor_id, temp, humidity, timestamp) cada 1s.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3 · CONSUMIDOR (spark_streaming_consumer.py)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Structured Streaming que suscribe a 'sensor_data' y calcula promedios en ventanas de 1 minuto.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11091672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ptura_kafka_instalacion_y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24" y="2212848"/>
            <a:ext cx="7794702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07 · PROCESAMIENTO EN TIEMPO REAL (ANEXO 3 – 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Ejecución Concurrente en Consola: Productor Kafka y Consumidor Spark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1 · PRODUCTOR KAFKA (python3 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Genera y transmite en bucle continuo (1 evento/seg) lecturas telemétricas simuladas en formato JSON hacia 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5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2 · CONSUMIDOR SPARK (spark-submit 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Ejecuta el conector spark-sql-kafka-0-10_2.13:4.2.1, deserializa el JSON y consolida micro-batches (Batch 0, 6, 7) con promedios por ventana de 1 minuto.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1091672" cy="4416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tura_streaming_terminales_re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85416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08 · MONITOREO DE CLÚSTER EN TIEMPO REAL (ANEXO 3 – PARTE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Auditoría de Jobs, Stages, Streaming y Executors en Spark Web UI (:4040)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1 · Pestaña Jobs (http://localhost:4040/jobs/) — </a:t>
            </a:r>
            <a:r>
              <a:rPr sz="950">
                <a:solidFill>
                  <a:srgbClr val="475569"/>
                </a:solidFill>
                <a:latin typeface="Segoe UI"/>
              </a:rPr>
              <a:t>Micro-batches completados y activos (200/200 tareas en modo FIFO).</a:t>
            </a:r>
          </a:p>
        </p:txBody>
      </p:sp>
      <p:pic>
        <p:nvPicPr>
          <p:cNvPr id="7" name="Picture 6" descr="spark_ui_job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68" y="1673352"/>
            <a:ext cx="5167191" cy="2029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2 · Pestaña Stages (http://localhost:4040/stages/) — </a:t>
            </a:r>
            <a:r>
              <a:rPr sz="950">
                <a:solidFill>
                  <a:srgbClr val="475569"/>
                </a:solidFill>
                <a:latin typeface="Segoe UI"/>
              </a:rPr>
              <a:t>Etapas del DAG, lecturas/escrituras de Shuffle (720 B) y tiempos.</a:t>
            </a:r>
          </a:p>
        </p:txBody>
      </p:sp>
      <p:pic>
        <p:nvPicPr>
          <p:cNvPr id="10" name="Picture 9" descr="spark_ui_stage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92" y="1673352"/>
            <a:ext cx="5167191" cy="2029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3 · Pestaña Structured Streaming (/StreamingQuery/) — </a:t>
            </a:r>
            <a:r>
              <a:rPr sz="950">
                <a:solidFill>
                  <a:srgbClr val="475569"/>
                </a:solidFill>
                <a:latin typeface="Segoe UI"/>
              </a:rPr>
              <a:t>Consulta RUNNING con tasa de entrada/proceso y último Batch.</a:t>
            </a:r>
          </a:p>
        </p:txBody>
      </p:sp>
      <p:pic>
        <p:nvPicPr>
          <p:cNvPr id="13" name="Picture 12" descr="spark_ui_streaming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68" y="4443984"/>
            <a:ext cx="5167191" cy="20299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27064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4 · Pestaña Executors (http://localhost:4040/executors/) — </a:t>
            </a:r>
            <a:r>
              <a:rPr sz="950">
                <a:solidFill>
                  <a:srgbClr val="475569"/>
                </a:solidFill>
                <a:latin typeface="Segoe UI"/>
              </a:rPr>
              <a:t>Métricas del Driver/Executor activo (18 núcleos, 803 tareas).</a:t>
            </a:r>
          </a:p>
        </p:txBody>
      </p:sp>
      <p:pic>
        <p:nvPicPr>
          <p:cNvPr id="16" name="Picture 15" descr="spark_ui_executors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92" y="4443984"/>
            <a:ext cx="5167191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09 · CIERRE, CONCLUSIONES Y ENTREGABLES VERIFICABLES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Segoe UI"/>
              </a:rPr>
              <a:t>Conclusiones Generales del Proyecto, Repositorio Git y Video Explicativo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1 · Superioridad In-Memory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Apache Spark supera el cuello de botella I/O en disco de Hadoop MapReduce, procesando 60.000 registros ambientales en segundos mediante memoria 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2 · Optimización Catalyst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El uso de DataFrames y Spark SQL demostró mayor eficiencia que los RDDs manuales gracias al reordenamiento lógico de consultas y gestión Off-Heap de Tungsten.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3 · Hallazgo Ambiental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Se comprobó empíricamente que la inversión térmica (bajas temperaturas + humedad &gt;75%) eleva críticamente la concentración de PM2.5 en zonas urbanas.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4 · Desacoplamiento con Kafka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Apache Kafka actúa como amortiguador elástico de telemetría IoT, garantizando persistencia y tolerancia a fallos mediante topics particionados.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5 · Analítica en Ventanas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Spark Structured Streaming permitió consolidar promedios térmicos y de humedad en ventanas de 1 minuto con latencia sub-segundo y monitoreo en el puerto :4040.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11091672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7680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📦 REPOSITORIO OFICIAL DE CÓDIGO FUENTE (GITHUB)</a:t>
            </a:r>
          </a:p>
          <a:p>
            <a:r>
              <a:rPr sz="1400" b="1">
                <a:solidFill>
                  <a:srgbClr val="002855"/>
                </a:solidFill>
                <a:latin typeface="Segoe UI"/>
              </a:rPr>
              <a:t>https://github.com/paulodelosrey/UNAD-BigData-Tarea3-Spark-Streaming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E87722"/>
                </a:solidFill>
                <a:latin typeface="Segoe UI"/>
              </a:rPr>
              <a:t>🎬 ENLACE AL VIDEO EXPLICATIVO DE SUSTENTACIÓN (MÁX. 5 MINUTOS)</a:t>
            </a:r>
          </a:p>
          <a:p>
            <a:r>
              <a:rPr sz="1300" b="1">
                <a:solidFill>
                  <a:srgbClr val="005691"/>
                </a:solidFill>
                <a:latin typeface="Segoe UI"/>
              </a:rPr>
              <a:t>[Pegar aquí el enlace de YouTube / Loom / Drive tras finalizar la grabación]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983480"/>
            <a:ext cx="2880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50" b="1">
                <a:solidFill>
                  <a:srgbClr val="002855"/>
                </a:solidFill>
                <a:latin typeface="Segoe UI"/>
              </a:rPr>
              <a:t>Paulo Andrés De los Reyes G.
</a:t>
            </a:r>
            <a:r>
              <a:rPr sz="1050">
                <a:solidFill>
                  <a:srgbClr val="475569"/>
                </a:solidFill>
                <a:latin typeface="Segoe UI"/>
              </a:rPr>
              <a:t>C.C. 1143451533 · Grupo 16
UNAD · Ingeniería de Sistemas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