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DM Sans"/>
      <ns0:bold ns1:id="rIdFont14"/>
      <ns0:regular ns1:id="rIdFont15"/>
    </ns0:embeddedFont>
    <ns0:embeddedFont>
      <ns0:font typeface="Space Grotesk"/>
      <ns0:bold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14" Type="http://schemas.openxmlformats.org/officeDocument/2006/relationships/font" Target="fonts/ec262993-e4b8-44a6-add9-9c4983621e4e.fntdata"/><Relationship Id="rIdFont15" Type="http://schemas.openxmlformats.org/officeDocument/2006/relationships/font" Target="fonts/60567046-3884-4d26-a412-afae3d93a6a7.fntdata"/><Relationship Id="rIdFont16" Type="http://schemas.openxmlformats.org/officeDocument/2006/relationships/font" Target="fonts/7417c9fe-f93f-4b8a-a545-ac81a88c8aa2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19725"/>
            <a:ext cx="10820400" cy="904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724025"/>
            <a:ext cx="685800" cy="57150"/>
          </a:xfrm>
          <a:prstGeom prst="rect">
            <a:avLst/>
          </a:prstGeom>
          <a:solidFill>
            <a:srgbClr val="D87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5419725"/>
            <a:ext cx="10820400" cy="95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657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87014"/>
                </a:solidFill>
                <a:latin typeface="DM Sans"/>
              </a:rPr>
              <a:t>UNAD · ECBTI · CURSO BIG DATA (202016911) · OCTUBRE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2225" y="533400"/>
            <a:ext cx="1654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DM Sans"/>
              </a:rPr>
              <a:t>Tarea 3 · Grupo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47875"/>
            <a:ext cx="10701337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750" i="0" u="none">
                <a:solidFill>
                  <a:srgbClr val="FFFFFF"/>
                </a:solidFill>
                <a:latin typeface="Space Grotesk"/>
              </a:rPr>
              <a:t>Plataforma Integral de Analítica Ambiental Big Data: Procesamiento Batch y Streaming con Apache Spark y Apache Kafka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76675"/>
            <a:ext cx="8191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CBD5E1"/>
                </a:solidFill>
                <a:latin typeface="DM Sans"/>
              </a:rPr>
              <a:t>Arquitectura distribuida para el monitoreo de calidad del aire y correlación meteorológica en Colombia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95950"/>
            <a:ext cx="3750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ESTUDIANTE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05500"/>
            <a:ext cx="3750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Paulo Andrés De los Reyes González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34100"/>
            <a:ext cx="3750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DM Sans"/>
              </a:rPr>
              <a:t>C.C. 1143451533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3375" y="5695950"/>
            <a:ext cx="4369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PROGRAMA ACADÉMICO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3375" y="5905500"/>
            <a:ext cx="43695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Ingeniería de Sistemas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3375" y="6134100"/>
            <a:ext cx="4369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DM Sans"/>
              </a:rPr>
              <a:t>Escuela de Ciencias Básicas, Tecnología e Ingeniería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0" y="5695950"/>
            <a:ext cx="3548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TUTOR DEL CURSO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0" y="5905500"/>
            <a:ext cx="3548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Ing. Fidias Rafael Barros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0" y="6134100"/>
            <a:ext cx="3548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DM Sans"/>
              </a:rPr>
              <a:t>Universidad Nacional Abierta y a Distancia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33612"/>
            <a:ext cx="4191000" cy="3295650"/>
          </a:xfrm>
          <a:prstGeom prst="roundRect">
            <a:avLst>
              <a:gd name="adj" fmla="val 462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390775"/>
            <a:ext cx="209550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905250"/>
            <a:ext cx="180975" cy="209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01 · CONTEXTO Y FUENTE OFICIAL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02855"/>
                </a:solidFill>
                <a:latin typeface="Space Grotesk"/>
              </a:rPr>
              <a:t>Definición del Problema y Conjunto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576512"/>
            <a:ext cx="4381500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b="1" sz="6300" i="0" u="none">
                <a:solidFill>
                  <a:srgbClr val="002855"/>
                </a:solidFill>
                <a:latin typeface="DM Sans"/>
              </a:rPr>
              <a:t>60.000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490912"/>
            <a:ext cx="4381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87014"/>
                </a:solidFill>
                <a:latin typeface="DM Sans"/>
              </a:rPr>
              <a:t>Observaciones horarias en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29062"/>
            <a:ext cx="3600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Cobertura: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Bogotá D.C., Antioquia, Valle del Cauca, Santander y Atlántico.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500562"/>
            <a:ext cx="3600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Fuente: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Portal Datos Abiertos (datos.gov.co) – SISAIRE / IDEAM / MinAmbiente.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362200"/>
            <a:ext cx="6934200" cy="266700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02855"/>
                </a:solidFill>
                <a:latin typeface="Space Grotesk"/>
              </a:rPr>
              <a:t>Problemática Ambiental y Tecnológica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876675"/>
            <a:ext cx="6934200" cy="26670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02855"/>
                </a:solidFill>
                <a:latin typeface="Space Grotesk"/>
              </a:rPr>
              <a:t>Variables Monitoreadas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9725" y="2714625"/>
            <a:ext cx="6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743200"/>
            <a:ext cx="6705600" cy="23812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Salud pública: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Mitigación de material particulado PM2.5 y PM10.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9725" y="3048000"/>
            <a:ext cx="6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076575"/>
            <a:ext cx="6191250" cy="4762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Cuello de botella RDBMS: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Alta latencia ante volúmenes masivos multi-estación.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9725" y="4229100"/>
            <a:ext cx="6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257675"/>
            <a:ext cx="6191250" cy="4762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Material particulado: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Concentraciones horarias de PM2.5 y PM10 (µg/m³).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9725" y="4800600"/>
            <a:ext cx="6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829175"/>
            <a:ext cx="6705600" cy="23812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Gases contaminantes: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Ozono (O3), NO2, SO2 y monóxido (CO).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9725" y="5133975"/>
            <a:ext cx="6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162550"/>
            <a:ext cx="6705600" cy="23812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Meteorología e índice: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Temperatura, humedad relativa e Índice 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057775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5057775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5057775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353050"/>
            <a:ext cx="2286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5353050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5353050"/>
            <a:ext cx="171450" cy="20002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1323975"/>
          <a:ext cx="10972799" cy="19621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14289"/>
                <a:gridCol w="3540621"/>
                <a:gridCol w="5017889"/>
              </a:tblGrid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Criterio Técnico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Apache Hadoop (MapReduce)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Apache Spark (In-Memory)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855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2855"/>
                          </a:solidFill>
                          <a:latin typeface="DM Sans"/>
                        </a:rPr>
                        <a:t>Motor de Procesamiento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Lectura/escritura intensiva en disco HDFS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2855"/>
                          </a:solidFill>
                          <a:latin typeface="DM Sans"/>
                        </a:rPr>
                        <a:t>Cómputo en memoria RAM (hasta 100x más veloz)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2855"/>
                          </a:solidFill>
                          <a:latin typeface="DM Sans"/>
                        </a:rPr>
                        <a:t>Tolerancia a Fallos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Replicación física de bloques en disco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2855"/>
                          </a:solidFill>
                          <a:latin typeface="DM Sans"/>
                        </a:rPr>
                        <a:t>Linaje de datos mediante Grafos Acíclicos Dirigidos (DAG)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02 · PARADIGMAS DE CÓMPUTO DISTRIBUIDO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02855"/>
                </a:solidFill>
                <a:latin typeface="Space Grotesk"/>
              </a:rPr>
              <a:t>Fundamentación Teórica: Spark vs. Hadoop y RDDs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324475"/>
            <a:ext cx="3900487" cy="257175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02855"/>
                </a:solidFill>
                <a:latin typeface="Space Grotesk"/>
              </a:rPr>
              <a:t>Arquitectura RDD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676900"/>
            <a:ext cx="3067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Colecciones inmutables distribuidas con evaluación perezosa.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5324475"/>
            <a:ext cx="3900487" cy="2571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02855"/>
                </a:solidFill>
                <a:latin typeface="Space Grotesk"/>
              </a:rPr>
              <a:t>Operaciones RDD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5676900"/>
            <a:ext cx="3067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Transformaciones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map/filter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vs. acciones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count/collect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5324475"/>
            <a:ext cx="3848100" cy="2571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02855"/>
                </a:solidFill>
                <a:latin typeface="Space Grotesk"/>
              </a:rPr>
              <a:t>Catalyst y Tungsten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5676900"/>
            <a:ext cx="3067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Predicate pushdown en DataFrames con memoria Off-Heap.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85875"/>
            <a:ext cx="2628900" cy="1009650"/>
          </a:xfrm>
          <a:prstGeom prst="roundRect">
            <a:avLst>
              <a:gd name="adj" fmla="val 9433"/>
            </a:avLst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1285875"/>
            <a:ext cx="2628900" cy="1009650"/>
          </a:xfrm>
          <a:prstGeom prst="roundRect">
            <a:avLst>
              <a:gd name="adj" fmla="val 9433"/>
            </a:avLst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1285875"/>
            <a:ext cx="2628900" cy="1009650"/>
          </a:xfrm>
          <a:prstGeom prst="roundRect">
            <a:avLst>
              <a:gd name="adj" fmla="val 9433"/>
            </a:avLst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1285875"/>
            <a:ext cx="2628900" cy="1009650"/>
          </a:xfrm>
          <a:prstGeom prst="roundRect">
            <a:avLst>
              <a:gd name="adj" fmla="val 9433"/>
            </a:avLst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03 · PROCESAMIENTO POR LOTES EN PYSPARK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02855"/>
                </a:solidFill>
                <a:latin typeface="Space Grotesk"/>
              </a:rPr>
              <a:t>Arquitectura de Procesamiento Batch y Resultados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1457325"/>
            <a:ext cx="2857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PASO 1 · INGESTA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1666875"/>
            <a:ext cx="2381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Carga CSV e inferencia de esquema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350" y="1457325"/>
            <a:ext cx="2857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PASO 2 · LIMPIEZA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350" y="1666875"/>
            <a:ext cx="2381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Casteo de tipos (59.091 válidos)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3650" y="1457325"/>
            <a:ext cx="2857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PASO 3 · TRANSFORMACIÓN RDD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3650" y="1666875"/>
            <a:ext cx="2381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Filtro PM2.5 y media departamental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4950" y="1457325"/>
            <a:ext cx="2857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PASO 4 · ANALÍTICA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4950" y="1666875"/>
            <a:ext cx="2381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DataFrames y Window Functions</a:t>
            </a:r>
          </a:p>
        </p:txBody>
      </p:sp>
      <p:pic>
        <p:nvPicPr>
          <p:cNvPr id="17" name="Picture 16" descr="figura1_pm_departa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468880"/>
            <a:ext cx="5349240" cy="4023360"/>
          </a:xfrm>
          <a:prstGeom prst="rect">
            <a:avLst/>
          </a:prstGeom>
        </p:spPr>
      </p:pic>
      <p:pic>
        <p:nvPicPr>
          <p:cNvPr id="18" name="Picture 17" descr="figura3_top_estaciones_criti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468880"/>
            <a:ext cx="53492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85875"/>
            <a:ext cx="2600325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1285875"/>
            <a:ext cx="2600325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1285875"/>
            <a:ext cx="2600325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1285875"/>
            <a:ext cx="2600325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800475"/>
            <a:ext cx="53721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3800475"/>
            <a:ext cx="53721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04 · HALLAZGOS ESTADÍSTICOS Y AMBIENTALES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02855"/>
                </a:solidFill>
                <a:latin typeface="Space Grotesk"/>
              </a:rPr>
              <a:t>Análisis Exploratorio (EDA) y Correlación Climática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457325"/>
            <a:ext cx="2678906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02855"/>
                </a:solidFill>
                <a:latin typeface="DM Sans"/>
              </a:rPr>
              <a:t>70.6%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019300"/>
            <a:ext cx="2678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ICA Buena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1457325"/>
            <a:ext cx="2678906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02855"/>
                </a:solidFill>
                <a:latin typeface="DM Sans"/>
              </a:rPr>
              <a:t>26.3%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2019300"/>
            <a:ext cx="2678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ICA Aceptable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1457325"/>
            <a:ext cx="2678906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D87014"/>
                </a:solidFill>
                <a:latin typeface="DM Sans"/>
              </a:rPr>
              <a:t>2.9%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2019300"/>
            <a:ext cx="2238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Dañina a Grupos Sensibles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0675" y="1457325"/>
            <a:ext cx="2678906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B91C1C"/>
                </a:solidFill>
                <a:latin typeface="DM Sans"/>
              </a:rPr>
              <a:t>0.1%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0675" y="2019300"/>
            <a:ext cx="2678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ICA Dañina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4086225"/>
            <a:ext cx="6000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5350" y="4371975"/>
            <a:ext cx="63007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02855"/>
                </a:solidFill>
                <a:latin typeface="Space Grotesk"/>
              </a:rPr>
              <a:t>Comportamiento Nacional del Índice 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4733925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Predominio de calidad favorable (96.9% acumulada entre Buena y Aceptable) con alertas focalizadas del 3.0%.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050" y="4086225"/>
            <a:ext cx="56959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96050" y="4371975"/>
            <a:ext cx="56959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02855"/>
                </a:solidFill>
                <a:latin typeface="Space Grotesk"/>
              </a:rPr>
              <a:t>Inversión Térmica Comprobada Empíricamente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4733925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Bajas temperaturas combinadas con humedad relativa superior al 70% encapsulan los picos críticos de PM2.5.</a:t>
            </a:r>
          </a:p>
        </p:txBody>
      </p:sp>
      <p:pic>
        <p:nvPicPr>
          <p:cNvPr id="24" name="Picture 23" descr="figura2_distribucion_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926080"/>
            <a:ext cx="3200400" cy="3200400"/>
          </a:xfrm>
          <a:prstGeom prst="rect">
            <a:avLst/>
          </a:prstGeom>
        </p:spPr>
      </p:pic>
      <p:pic>
        <p:nvPicPr>
          <p:cNvPr id="25" name="Picture 24" descr="figura4_dispersion_clima_contamin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26080"/>
            <a:ext cx="52120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038725"/>
            <a:ext cx="10972800" cy="1362075"/>
          </a:xfrm>
          <a:prstGeom prst="roundRect">
            <a:avLst>
              <a:gd name="adj" fmla="val 9790"/>
            </a:avLst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23975"/>
            <a:ext cx="3319462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57662" y="1323975"/>
            <a:ext cx="3319462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05725" y="1323975"/>
            <a:ext cx="3876675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05 · ARQUITECTURA EN TIEMPO REAL (ANEXO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02855"/>
                </a:solidFill>
                <a:latin typeface="Space Grotesk"/>
              </a:rPr>
              <a:t>Procesamiento Streaming con Apache Kafka y 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1590675"/>
            <a:ext cx="3482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1 · PRODUCTOR IOT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1819275"/>
            <a:ext cx="365670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02855"/>
                </a:solidFill>
                <a:latin typeface="Space Grotesk"/>
              </a:rPr>
              <a:t>kafka_producer.py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171700"/>
            <a:ext cx="28813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Emisión continua segundo a segundo de telemetría sintética en JSON.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4362" y="1590675"/>
            <a:ext cx="3482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2 · BROKER DISTRIBUIDO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4362" y="1819275"/>
            <a:ext cx="365670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02855"/>
                </a:solidFill>
                <a:latin typeface="Space Grotesk"/>
              </a:rPr>
              <a:t>Cluster Kafka + ZooKeeper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4362" y="2171700"/>
            <a:ext cx="28813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Topic particionado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sensor_data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activo en Linux sobre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localhost:9092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2425" y="1590675"/>
            <a:ext cx="4179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3 · STRUCTURED 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2425" y="1819275"/>
            <a:ext cx="42195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02855"/>
                </a:solidFill>
                <a:latin typeface="Space Grotesk"/>
              </a:rPr>
              <a:t>spark_streaming_consumer.py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2425" y="2171700"/>
            <a:ext cx="34385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Agregación en ventanas de 1 minuto con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groupBy(window(...), 'sensor_id')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5305425"/>
            <a:ext cx="990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OBSERVABILIDAD Y TELEMETRÍA DE CLÚSTER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5534025"/>
            <a:ext cx="104013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Space Grotesk"/>
              </a:rPr>
              <a:t>Auditoría en Tiempo Real mediante Spark Web UI (Puerto 4040)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5905500"/>
            <a:ext cx="990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Inspección de Jobs activos, DAG de Stages por micro-batch, entorno y consumo RAM en Executors.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3625" y="5395912"/>
            <a:ext cx="1285875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2700" i="0" u="none">
                <a:solidFill>
                  <a:srgbClr val="D87014"/>
                </a:solidFill>
                <a:latin typeface="DM Sans"/>
              </a:rPr>
              <a:t>:4040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53625" y="5843587"/>
            <a:ext cx="1285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FFFFFF"/>
                </a:solidFill>
                <a:latin typeface="DM Sans"/>
              </a:rPr>
              <a:t>Spark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953000"/>
            <a:ext cx="10972800" cy="1447800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43137"/>
            <a:ext cx="3505200" cy="1562100"/>
          </a:xfrm>
          <a:prstGeom prst="roundRect">
            <a:avLst>
              <a:gd name="adj" fmla="val 7317"/>
            </a:avLst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243137"/>
            <a:ext cx="3505200" cy="1562100"/>
          </a:xfrm>
          <a:prstGeom prst="roundRect">
            <a:avLst>
              <a:gd name="adj" fmla="val 7317"/>
            </a:avLst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243137"/>
            <a:ext cx="3505200" cy="1562100"/>
          </a:xfrm>
          <a:prstGeom prst="roundRect">
            <a:avLst>
              <a:gd name="adj" fmla="val 7317"/>
            </a:avLst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00650"/>
            <a:ext cx="13335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753100"/>
            <a:ext cx="15240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06 · CIERRE, ENTREGABLES Y SUSTENTACIÓN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Space Grotesk"/>
              </a:rPr>
              <a:t>Recursos del Proyecto, Conclusiones y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509837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87014"/>
                </a:solidFill>
                <a:latin typeface="Space Grotesk"/>
              </a:rPr>
              <a:t>1 · Velocidad en Memoria 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85273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1F5F9"/>
                </a:solidFill>
                <a:latin typeface="DM Sans"/>
              </a:rPr>
              <a:t>Apache Spark elimina los cuellos de botella por I/O en disco tradicionales de Hadoop.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509837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87014"/>
                </a:solidFill>
                <a:latin typeface="Space Grotesk"/>
              </a:rPr>
              <a:t>2 · Optimización Avanzada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85273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1F5F9"/>
                </a:solidFill>
                <a:latin typeface="DM Sans"/>
              </a:rPr>
              <a:t>Catalyst y Tungsten convierten a los DataFrames en la abstracción más eficiente y escalable.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2509837"/>
            <a:ext cx="38481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87014"/>
                </a:solidFill>
                <a:latin typeface="Space Grotesk"/>
              </a:rPr>
              <a:t>3 · Desacoplamiento 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285273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1F5F9"/>
                </a:solidFill>
                <a:latin typeface="DM Sans"/>
              </a:rPr>
              <a:t>Apache Kafka amortigua ráfagas de telemetría IoT con alta elasticidad y tolerancia a fallos.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81600"/>
            <a:ext cx="8405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REPOSITORIO OFICIAL DEL 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1150"/>
            <a:ext cx="8405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t>https://github.com/paulodelosrey/UNAD-BigData-Tarea3-Spark-Streaming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34050"/>
            <a:ext cx="8405812" cy="17145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7014"/>
                </a:solidFill>
                <a:latin typeface="DM Sans"/>
              </a:rPr>
              <a:t>ENLACE AL VIDEO DE SUSTENTACIÓN (MÁX. 5 MINUTOS)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8405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2855"/>
                </a:solidFill>
                <a:latin typeface="DM Sans"/>
              </a:rPr>
              <a:t>[Pegar enlace del video de máximo 5 minutos]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2912" y="5443537"/>
            <a:ext cx="32146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002855"/>
                </a:solidFill>
                <a:latin typeface="DM Sans"/>
              </a:rPr>
              <a:t>Paulo Andrés De los Reyes 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2912" y="5710237"/>
            <a:ext cx="3214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475569"/>
                </a:solidFill>
                <a:latin typeface="DM Sans"/>
              </a:rPr>
              <a:t>UNAD · Ingeniería de Sistemas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