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saveSubsetFonts="1" autoCompressPictures="0" embedTrueTypeFonts="1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</ns0:sldIdLst>
  <ns0:sldSz cx="12192000" cy="6858000" type="screen4x3"/>
  <ns0:notesSz cx="6858000" cy="9144000"/>
  <ns0:embeddedFontLst>
    <ns0:embeddedFont>
      <ns0:font typeface="DM Sans"/>
      <ns0:bold ns1:id="rIdFont14"/>
      <ns0:regular ns1:id="rIdFont15"/>
    </ns0:embeddedFont>
    <ns0:embeddedFont>
      <ns0:font typeface="Space Grotesk"/>
      <ns0:bold ns1:id="rIdFont16"/>
    </ns0:embeddedFont>
  </ns0:embeddedFontLst>
  <ns0:defaultTextStyle>
    <ns2:defPPr>
      <ns2:defRPr lang="en-US"/>
    </ns2:defPPr>
    <ns2:lvl1pPr marL="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2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4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6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8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60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2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4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6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Font14" Type="http://schemas.openxmlformats.org/officeDocument/2006/relationships/font" Target="fonts/ec262993-e4b8-44a6-add9-9c4983621e4e.fntdata"/><Relationship Id="rIdFont15" Type="http://schemas.openxmlformats.org/officeDocument/2006/relationships/font" Target="fonts/60567046-3884-4d26-a412-afae3d93a6a7.fntdata"/><Relationship Id="rIdFont16" Type="http://schemas.openxmlformats.org/officeDocument/2006/relationships/font" Target="fonts/7417c9fe-f93f-4b8a-a545-ac81a88c8aa2.fntdata"/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85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419725"/>
            <a:ext cx="10820400" cy="9048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1724025"/>
            <a:ext cx="685800" cy="57150"/>
          </a:xfrm>
          <a:prstGeom prst="rect">
            <a:avLst/>
          </a:prstGeom>
          <a:solidFill>
            <a:srgbClr val="D87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5419725"/>
            <a:ext cx="10820400" cy="952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533400"/>
            <a:ext cx="657225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D87014"/>
                </a:solidFill>
                <a:latin typeface="DM Sans"/>
              </a:rPr>
              <a:t>UNAD · ECBTI · CURSO BIG DATA (202016911) · OCTUBRE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82225" y="533400"/>
            <a:ext cx="1654968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FFFFFF"/>
                </a:solidFill>
                <a:latin typeface="DM Sans"/>
              </a:rPr>
              <a:t>Tarea 3 · Grupo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47875"/>
            <a:ext cx="10701337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b="1" sz="3750" i="0" u="none">
                <a:solidFill>
                  <a:srgbClr val="FFFFFF"/>
                </a:solidFill>
                <a:latin typeface="Space Grotesk"/>
              </a:rPr>
              <a:t>Plataforma Integral de Analítica Ambiental Big Data: Procesamiento Batch y Streaming con Apache Spark y Apache Kafka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876675"/>
            <a:ext cx="8191500" cy="552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650" i="0" u="none">
                <a:solidFill>
                  <a:srgbClr val="CBD5E1"/>
                </a:solidFill>
                <a:latin typeface="DM Sans"/>
              </a:rPr>
              <a:t>Arquitectura distribuida para el monitoreo de calidad del aire y correlación meteorológica en Colombia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695950"/>
            <a:ext cx="3750468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D87014"/>
                </a:solidFill>
                <a:latin typeface="DM Sans"/>
              </a:rPr>
              <a:t>ESTUDIANTE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905500"/>
            <a:ext cx="3750468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FFFFFF"/>
                </a:solidFill>
                <a:latin typeface="DM Sans"/>
              </a:rPr>
              <a:t>Paulo Andrés De los Reyes González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134100"/>
            <a:ext cx="3750468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125" i="0" u="none">
                <a:solidFill>
                  <a:srgbClr val="94A3B8"/>
                </a:solidFill>
                <a:latin typeface="DM Sans"/>
              </a:rPr>
              <a:t>C.C. 1143451533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43375" y="5695950"/>
            <a:ext cx="4369593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D87014"/>
                </a:solidFill>
                <a:latin typeface="DM Sans"/>
              </a:rPr>
              <a:t>PROGRAMA ACADÉMICO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43375" y="5905500"/>
            <a:ext cx="4369593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FFFFFF"/>
                </a:solidFill>
                <a:latin typeface="DM Sans"/>
              </a:rPr>
              <a:t>Ingeniería de Sistemas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43375" y="6134100"/>
            <a:ext cx="4369593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125" i="0" u="none">
                <a:solidFill>
                  <a:srgbClr val="94A3B8"/>
                </a:solidFill>
                <a:latin typeface="DM Sans"/>
              </a:rPr>
              <a:t>Escuela de Ciencias Básicas, Tecnología e Ingeniería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6250" y="5695950"/>
            <a:ext cx="3548062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D87014"/>
                </a:solidFill>
                <a:latin typeface="DM Sans"/>
              </a:rPr>
              <a:t>TUTOR DEL CURSO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6250" y="5905500"/>
            <a:ext cx="3548062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FFFFFF"/>
                </a:solidFill>
                <a:latin typeface="DM Sans"/>
              </a:rPr>
              <a:t>Ing. Fidias Rafael Barros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6250" y="6134100"/>
            <a:ext cx="3548062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125" i="0" u="none">
                <a:solidFill>
                  <a:srgbClr val="94A3B8"/>
                </a:solidFill>
                <a:latin typeface="DM Sans"/>
              </a:rPr>
              <a:t>Universidad Nacional Abierta y a Distancia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2233612"/>
            <a:ext cx="4191000" cy="3295650"/>
          </a:xfrm>
          <a:prstGeom prst="roundRect">
            <a:avLst>
              <a:gd name="adj" fmla="val 4624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2390775"/>
            <a:ext cx="209550" cy="2095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0" y="3905250"/>
            <a:ext cx="180975" cy="2095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D87014"/>
                </a:solidFill>
                <a:latin typeface="DM Sans"/>
              </a:rPr>
              <a:t>01 · CONTEXTO Y FUENTE OFICIAL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85800"/>
            <a:ext cx="11582400" cy="4095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2550" i="0" u="none">
                <a:solidFill>
                  <a:srgbClr val="002855"/>
                </a:solidFill>
                <a:latin typeface="Space Grotesk"/>
              </a:rPr>
              <a:t>Definición del Problema y Conjunto de Datos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2576512"/>
            <a:ext cx="4381500" cy="800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00"/>
              </a:lnSpc>
            </a:pPr>
            <a:r>
              <a:rPr b="1" sz="6300" i="0" u="none">
                <a:solidFill>
                  <a:srgbClr val="002855"/>
                </a:solidFill>
                <a:latin typeface="DM Sans"/>
              </a:rPr>
              <a:t>60.000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3490912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500" i="0" u="none">
                <a:solidFill>
                  <a:srgbClr val="D87014"/>
                </a:solidFill>
                <a:latin typeface="DM Sans"/>
              </a:rPr>
              <a:t>Observaciones horarias en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3929062"/>
            <a:ext cx="360045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334155"/>
                </a:solidFill>
                <a:latin typeface="DM Sans"/>
              </a:rPr>
              <a:t>Cobertura:</a:t>
            </a:r>
            <a:r>
              <a:rPr b="0" sz="1350" i="0" u="none">
                <a:solidFill>
                  <a:srgbClr val="334155"/>
                </a:solidFill>
                <a:latin typeface="DM Sans"/>
              </a:rPr>
              <a:t> Bogotá D.C., Antioquia, Valle del Cauca, Santander y Atlántico.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4500562"/>
            <a:ext cx="360045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334155"/>
                </a:solidFill>
                <a:latin typeface="DM Sans"/>
              </a:rPr>
              <a:t>Fuente:</a:t>
            </a:r>
            <a:r>
              <a:rPr b="0" sz="1350" i="0" u="none">
                <a:solidFill>
                  <a:srgbClr val="334155"/>
                </a:solidFill>
                <a:latin typeface="DM Sans"/>
              </a:rPr>
              <a:t> Portal Datos Abiertos (datos.gov.co) – SISAIRE / IDEAM / MinAmbiente.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0" y="2362200"/>
            <a:ext cx="6934200" cy="266700"/>
          </a:xfrm>
          <a:prstGeom prst="rect">
            <a:avLst/>
          </a:prstGeom>
          <a:noFill/>
        </p:spPr>
        <p:txBody>
          <a:bodyPr wrap="none" lIns="304800" rIns="0" tIns="0" bIns="0" anchor="t">
            <a:spAutoFit/>
          </a:bodyPr>
          <a:lstStyle/>
          <a:p>
            <a:pPr algn="l"/>
            <a:r>
              <a:rPr b="1" sz="1650" i="0" u="none">
                <a:solidFill>
                  <a:srgbClr val="002855"/>
                </a:solidFill>
                <a:latin typeface="Space Grotesk"/>
              </a:rPr>
              <a:t>Problemática Ambiental y Tecnológica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7800" y="3876675"/>
            <a:ext cx="6934200" cy="266700"/>
          </a:xfrm>
          <a:prstGeom prst="rect">
            <a:avLst/>
          </a:prstGeom>
          <a:noFill/>
        </p:spPr>
        <p:txBody>
          <a:bodyPr wrap="none" lIns="276225" rIns="0" tIns="0" bIns="0" anchor="t">
            <a:spAutoFit/>
          </a:bodyPr>
          <a:lstStyle/>
          <a:p>
            <a:pPr algn="l"/>
            <a:r>
              <a:rPr b="1" sz="1650" i="0" u="none">
                <a:solidFill>
                  <a:srgbClr val="002855"/>
                </a:solidFill>
                <a:latin typeface="Space Grotesk"/>
              </a:rPr>
              <a:t>Variables Monitoreadas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19725" y="2714625"/>
            <a:ext cx="66675" cy="2381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425" i="0" u="none">
                <a:solidFill>
                  <a:srgbClr val="1E293B"/>
                </a:solidFill>
                <a:latin typeface="DM Sans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2743200"/>
            <a:ext cx="6705600" cy="238125"/>
          </a:xfrm>
          <a:prstGeom prst="rect">
            <a:avLst/>
          </a:prstGeom>
          <a:noFill/>
        </p:spPr>
        <p:txBody>
          <a:bodyPr wrap="none" lIns="66675" rIns="0" tIns="0" bIns="0" anchor="t">
            <a:spAutoFit/>
          </a:bodyPr>
          <a:lstStyle/>
          <a:p>
            <a:pPr algn="l"/>
            <a:r>
              <a:rPr b="1" sz="1425" i="0" u="none">
                <a:solidFill>
                  <a:srgbClr val="1E293B"/>
                </a:solidFill>
                <a:latin typeface="DM Sans"/>
              </a:rPr>
              <a:t>Salud pública:</a:t>
            </a:r>
            <a:r>
              <a:rPr b="0" sz="1425" i="0" u="none">
                <a:solidFill>
                  <a:srgbClr val="1E293B"/>
                </a:solidFill>
                <a:latin typeface="DM Sans"/>
              </a:rPr>
              <a:t> Mitigación de material particulado PM2.5 y PM10.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19725" y="3048000"/>
            <a:ext cx="66675" cy="2381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425" i="0" u="none">
                <a:solidFill>
                  <a:srgbClr val="1E293B"/>
                </a:solidFill>
                <a:latin typeface="DM Sans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3076575"/>
            <a:ext cx="6191250" cy="476250"/>
          </a:xfrm>
          <a:prstGeom prst="rect">
            <a:avLst/>
          </a:prstGeom>
          <a:noFill/>
        </p:spPr>
        <p:txBody>
          <a:bodyPr wrap="square" lIns="66675" rIns="0" tIns="0" bIns="0" anchor="t">
            <a:spAutoFit/>
          </a:bodyPr>
          <a:lstStyle/>
          <a:p>
            <a:pPr algn="l"/>
            <a:r>
              <a:rPr b="1" sz="1425" i="0" u="none">
                <a:solidFill>
                  <a:srgbClr val="1E293B"/>
                </a:solidFill>
                <a:latin typeface="DM Sans"/>
              </a:rPr>
              <a:t>Cuello de botella RDBMS:</a:t>
            </a:r>
            <a:r>
              <a:rPr b="0" sz="1425" i="0" u="none">
                <a:solidFill>
                  <a:srgbClr val="1E293B"/>
                </a:solidFill>
                <a:latin typeface="DM Sans"/>
              </a:rPr>
              <a:t> Alta latencia ante volúmenes masivos multi-estación.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9725" y="4229100"/>
            <a:ext cx="66675" cy="2381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425" i="0" u="none">
                <a:solidFill>
                  <a:srgbClr val="1E293B"/>
                </a:solidFill>
                <a:latin typeface="DM Sans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4257675"/>
            <a:ext cx="6191250" cy="476250"/>
          </a:xfrm>
          <a:prstGeom prst="rect">
            <a:avLst/>
          </a:prstGeom>
          <a:noFill/>
        </p:spPr>
        <p:txBody>
          <a:bodyPr wrap="square" lIns="66675" rIns="0" tIns="0" bIns="0" anchor="t">
            <a:spAutoFit/>
          </a:bodyPr>
          <a:lstStyle/>
          <a:p>
            <a:pPr algn="l"/>
            <a:r>
              <a:rPr b="1" sz="1425" i="0" u="none">
                <a:solidFill>
                  <a:srgbClr val="1E293B"/>
                </a:solidFill>
                <a:latin typeface="DM Sans"/>
              </a:rPr>
              <a:t>Material particulado:</a:t>
            </a:r>
            <a:r>
              <a:rPr b="0" sz="1425" i="0" u="none">
                <a:solidFill>
                  <a:srgbClr val="1E293B"/>
                </a:solidFill>
                <a:latin typeface="DM Sans"/>
              </a:rPr>
              <a:t> Concentraciones horarias de PM2.5 y PM10 (µg/m³).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19725" y="4800600"/>
            <a:ext cx="66675" cy="2381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425" i="0" u="none">
                <a:solidFill>
                  <a:srgbClr val="1E293B"/>
                </a:solidFill>
                <a:latin typeface="DM Sans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4829175"/>
            <a:ext cx="6705600" cy="238125"/>
          </a:xfrm>
          <a:prstGeom prst="rect">
            <a:avLst/>
          </a:prstGeom>
          <a:noFill/>
        </p:spPr>
        <p:txBody>
          <a:bodyPr wrap="none" lIns="66675" rIns="0" tIns="0" bIns="0" anchor="t">
            <a:spAutoFit/>
          </a:bodyPr>
          <a:lstStyle/>
          <a:p>
            <a:pPr algn="l"/>
            <a:r>
              <a:rPr b="1" sz="1425" i="0" u="none">
                <a:solidFill>
                  <a:srgbClr val="1E293B"/>
                </a:solidFill>
                <a:latin typeface="DM Sans"/>
              </a:rPr>
              <a:t>Gases contaminantes:</a:t>
            </a:r>
            <a:r>
              <a:rPr b="0" sz="1425" i="0" u="none">
                <a:solidFill>
                  <a:srgbClr val="1E293B"/>
                </a:solidFill>
                <a:latin typeface="DM Sans"/>
              </a:rPr>
              <a:t> Ozono (O3), NO2, SO2 y monóxido (CO).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19725" y="5133975"/>
            <a:ext cx="66675" cy="2381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425" i="0" u="none">
                <a:solidFill>
                  <a:srgbClr val="1E293B"/>
                </a:solidFill>
                <a:latin typeface="DM Sans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0" y="5162550"/>
            <a:ext cx="6705600" cy="238125"/>
          </a:xfrm>
          <a:prstGeom prst="rect">
            <a:avLst/>
          </a:prstGeom>
          <a:noFill/>
        </p:spPr>
        <p:txBody>
          <a:bodyPr wrap="none" lIns="66675" rIns="0" tIns="0" bIns="0" anchor="t">
            <a:spAutoFit/>
          </a:bodyPr>
          <a:lstStyle/>
          <a:p>
            <a:pPr algn="l"/>
            <a:r>
              <a:rPr b="1" sz="1425" i="0" u="none">
                <a:solidFill>
                  <a:srgbClr val="1E293B"/>
                </a:solidFill>
                <a:latin typeface="DM Sans"/>
              </a:rPr>
              <a:t>Meteorología e índice:</a:t>
            </a:r>
            <a:r>
              <a:rPr b="0" sz="1425" i="0" u="none">
                <a:solidFill>
                  <a:srgbClr val="1E293B"/>
                </a:solidFill>
                <a:latin typeface="DM Sans"/>
              </a:rPr>
              <a:t> Temperatura, humedad relativa e Índice ICA.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5057775"/>
            <a:ext cx="3505200" cy="1343025"/>
          </a:xfrm>
          <a:prstGeom prst="roundRect">
            <a:avLst>
              <a:gd name="adj" fmla="val 851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343400" y="5057775"/>
            <a:ext cx="3505200" cy="1343025"/>
          </a:xfrm>
          <a:prstGeom prst="roundRect">
            <a:avLst>
              <a:gd name="adj" fmla="val 851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077200" y="5057775"/>
            <a:ext cx="3505200" cy="1343025"/>
          </a:xfrm>
          <a:prstGeom prst="roundRect">
            <a:avLst>
              <a:gd name="adj" fmla="val 851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300" y="5353050"/>
            <a:ext cx="228600" cy="20002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0100" y="5353050"/>
            <a:ext cx="171450" cy="20002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43900" y="5353050"/>
            <a:ext cx="171450" cy="200025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9600" y="1323975"/>
          <a:ext cx="10972799" cy="1962150"/>
        </p:xfrm>
        <a:graphic>
          <a:graphicData uri="http://schemas.openxmlformats.org/drawingml/2006/table">
            <a:tbl>
              <a:tblPr firstRow="0" bandRow="0">
                <a:lnL>
                  <a:noFill/>
                </a:lnL>
                <a:lnR>
                  <a:noFill/>
                </a:lnR>
                <a:lnT>
                  <a:noFill/>
                </a:lnT>
                <a:lnB>
                  <a:noFill/>
                </a:lnB>
                <a:lnV>
                  <a:noFill/>
                </a:lnV>
                <a:lnH>
                  <a:noFill/>
                </a:lnH>
              </a:tblPr>
              <a:tblGrid>
                <a:gridCol w="2414289"/>
                <a:gridCol w="3540621"/>
                <a:gridCol w="5017889"/>
              </a:tblGrid>
              <a:tr h="654050">
                <a:tc>
                  <a:txBody>
                    <a:bodyPr/>
                    <a:lstStyle/>
                    <a:p>
                      <a:pPr algn="l"/>
                      <a:r>
                        <a:rPr b="1" sz="1350" i="0" u="none">
                          <a:solidFill>
                            <a:srgbClr val="FFFFFF"/>
                          </a:solidFill>
                          <a:latin typeface="DM Sans"/>
                        </a:rPr>
                        <a:t>Criterio Técnico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350" i="0" u="none">
                          <a:solidFill>
                            <a:srgbClr val="FFFFFF"/>
                          </a:solidFill>
                          <a:latin typeface="DM Sans"/>
                        </a:rPr>
                        <a:t>Apache Hadoop (MapReduce)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350" i="0" u="none">
                          <a:solidFill>
                            <a:srgbClr val="FFFFFF"/>
                          </a:solidFill>
                          <a:latin typeface="DM Sans"/>
                        </a:rPr>
                        <a:t>Apache Spark (In-Memory)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2855"/>
                    </a:solidFill>
                  </a:tcPr>
                </a:tc>
              </a:tr>
              <a:tr h="654050">
                <a:tc>
                  <a:txBody>
                    <a:bodyPr/>
                    <a:lstStyle/>
                    <a:p>
                      <a:pPr algn="l"/>
                      <a:r>
                        <a:rPr b="1" sz="1350" i="0" u="none">
                          <a:solidFill>
                            <a:srgbClr val="002855"/>
                          </a:solidFill>
                          <a:latin typeface="DM Sans"/>
                        </a:rPr>
                        <a:t>Motor de Procesamiento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350" i="0" u="none">
                          <a:solidFill>
                            <a:srgbClr val="475569"/>
                          </a:solidFill>
                          <a:latin typeface="DM Sans"/>
                        </a:rPr>
                        <a:t>Lectura/escritura intensiva en disco HDFS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350" i="0" u="none">
                          <a:solidFill>
                            <a:srgbClr val="002855"/>
                          </a:solidFill>
                          <a:latin typeface="DM Sans"/>
                        </a:rPr>
                        <a:t>Cómputo en memoria RAM (hasta 100x más veloz)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  <a:tr h="654050">
                <a:tc>
                  <a:txBody>
                    <a:bodyPr/>
                    <a:lstStyle/>
                    <a:p>
                      <a:pPr algn="l"/>
                      <a:r>
                        <a:rPr b="1" sz="1350" i="0" u="none">
                          <a:solidFill>
                            <a:srgbClr val="002855"/>
                          </a:solidFill>
                          <a:latin typeface="DM Sans"/>
                        </a:rPr>
                        <a:t>Tolerancia a Fallos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350" i="0" u="none">
                          <a:solidFill>
                            <a:srgbClr val="475569"/>
                          </a:solidFill>
                          <a:latin typeface="DM Sans"/>
                        </a:rPr>
                        <a:t>Replicación física de bloques en disco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350" i="0" u="none">
                          <a:solidFill>
                            <a:srgbClr val="002855"/>
                          </a:solidFill>
                          <a:latin typeface="DM Sans"/>
                        </a:rPr>
                        <a:t>Linaje de datos mediante Grafos Acíclicos Dirigidos (DAG)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D87014"/>
                </a:solidFill>
                <a:latin typeface="DM Sans"/>
              </a:rPr>
              <a:t>02 · PARADIGMAS DE CÓMPUTO DISTRIBUIDO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685800"/>
            <a:ext cx="11582400" cy="4095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2550" i="0" u="none">
                <a:solidFill>
                  <a:srgbClr val="002855"/>
                </a:solidFill>
                <a:latin typeface="Space Grotesk"/>
              </a:rPr>
              <a:t>Fundamentación Teórica: Spark vs. Hadoop y RDDs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6300" y="5324475"/>
            <a:ext cx="3900487" cy="257175"/>
          </a:xfrm>
          <a:prstGeom prst="rect">
            <a:avLst/>
          </a:prstGeom>
          <a:noFill/>
        </p:spPr>
        <p:txBody>
          <a:bodyPr wrap="none" lIns="304800" rIns="0" tIns="0" bIns="0" anchor="t">
            <a:spAutoFit/>
          </a:bodyPr>
          <a:lstStyle/>
          <a:p>
            <a:pPr algn="l"/>
            <a:r>
              <a:rPr b="1" sz="1575" i="0" u="none">
                <a:solidFill>
                  <a:srgbClr val="002855"/>
                </a:solidFill>
                <a:latin typeface="Space Grotesk"/>
              </a:rPr>
              <a:t>Arquitectura RDD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6300" y="5676900"/>
            <a:ext cx="306705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334155"/>
                </a:solidFill>
                <a:latin typeface="DM Sans"/>
              </a:rPr>
              <a:t>Colecciones inmutables distribuidas con evaluación perezosa.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0100" y="5324475"/>
            <a:ext cx="3900487" cy="257175"/>
          </a:xfrm>
          <a:prstGeom prst="rect">
            <a:avLst/>
          </a:prstGeom>
          <a:noFill/>
        </p:spPr>
        <p:txBody>
          <a:bodyPr wrap="none" lIns="247650" rIns="0" tIns="0" bIns="0" anchor="t">
            <a:spAutoFit/>
          </a:bodyPr>
          <a:lstStyle/>
          <a:p>
            <a:pPr algn="l"/>
            <a:r>
              <a:rPr b="1" sz="1575" i="0" u="none">
                <a:solidFill>
                  <a:srgbClr val="002855"/>
                </a:solidFill>
                <a:latin typeface="Space Grotesk"/>
              </a:rPr>
              <a:t>Operaciones RDD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0100" y="5676900"/>
            <a:ext cx="306705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334155"/>
                </a:solidFill>
                <a:latin typeface="DM Sans"/>
              </a:rPr>
              <a:t>Transformaciones </a:t>
            </a:r>
            <a:r>
              <a:rPr b="0" sz="1350" i="0" u="none">
                <a:solidFill>
                  <a:srgbClr val="334155"/>
                </a:solidFill>
                <a:latin typeface="DM Sans"/>
              </a:rPr>
              <a:t>map/filter</a:t>
            </a:r>
            <a:r>
              <a:rPr b="0" sz="1350" i="0" u="none">
                <a:solidFill>
                  <a:srgbClr val="334155"/>
                </a:solidFill>
                <a:latin typeface="DM Sans"/>
              </a:rPr>
              <a:t> vs. acciones </a:t>
            </a:r>
            <a:r>
              <a:rPr b="0" sz="1350" i="0" u="none">
                <a:solidFill>
                  <a:srgbClr val="334155"/>
                </a:solidFill>
                <a:latin typeface="DM Sans"/>
              </a:rPr>
              <a:t>count/collect</a:t>
            </a:r>
            <a:r>
              <a:rPr b="0" sz="1350" i="0" u="none">
                <a:solidFill>
                  <a:srgbClr val="334155"/>
                </a:solidFill>
                <a:latin typeface="DM Sans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3900" y="5324475"/>
            <a:ext cx="3848100" cy="257175"/>
          </a:xfrm>
          <a:prstGeom prst="rect">
            <a:avLst/>
          </a:prstGeom>
          <a:noFill/>
        </p:spPr>
        <p:txBody>
          <a:bodyPr wrap="none" lIns="247650" rIns="0" tIns="0" bIns="0" anchor="t">
            <a:spAutoFit/>
          </a:bodyPr>
          <a:lstStyle/>
          <a:p>
            <a:pPr algn="l"/>
            <a:r>
              <a:rPr b="1" sz="1575" i="0" u="none">
                <a:solidFill>
                  <a:srgbClr val="002855"/>
                </a:solidFill>
                <a:latin typeface="Space Grotesk"/>
              </a:rPr>
              <a:t>Catalyst y Tungsten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3900" y="5676900"/>
            <a:ext cx="306705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334155"/>
                </a:solidFill>
                <a:latin typeface="DM Sans"/>
              </a:rPr>
              <a:t>Predicate pushdown en DataFrames con memoria Off-Heap.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1285875"/>
            <a:ext cx="2628900" cy="1009650"/>
          </a:xfrm>
          <a:prstGeom prst="roundRect">
            <a:avLst>
              <a:gd name="adj" fmla="val 9433"/>
            </a:avLst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390900" y="1285875"/>
            <a:ext cx="2628900" cy="1009650"/>
          </a:xfrm>
          <a:prstGeom prst="roundRect">
            <a:avLst>
              <a:gd name="adj" fmla="val 9433"/>
            </a:avLst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172200" y="1285875"/>
            <a:ext cx="2628900" cy="1009650"/>
          </a:xfrm>
          <a:prstGeom prst="roundRect">
            <a:avLst>
              <a:gd name="adj" fmla="val 9433"/>
            </a:avLst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953500" y="1285875"/>
            <a:ext cx="2628900" cy="1009650"/>
          </a:xfrm>
          <a:prstGeom prst="roundRect">
            <a:avLst>
              <a:gd name="adj" fmla="val 9433"/>
            </a:avLst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D87014"/>
                </a:solidFill>
                <a:latin typeface="DM Sans"/>
              </a:rPr>
              <a:t>03 · PROCESAMIENTO POR LOTES EN PYSPARK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85800"/>
            <a:ext cx="11582400" cy="4095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2550" i="0" u="none">
                <a:solidFill>
                  <a:srgbClr val="002855"/>
                </a:solidFill>
                <a:latin typeface="Space Grotesk"/>
              </a:rPr>
              <a:t>Arquitectura de Procesamiento Batch y Resultados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050" y="1457325"/>
            <a:ext cx="28575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D87014"/>
                </a:solidFill>
                <a:latin typeface="DM Sans"/>
              </a:rPr>
              <a:t>PASO 1 · INGESTA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050" y="1666875"/>
            <a:ext cx="238125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FFFFFF"/>
                </a:solidFill>
                <a:latin typeface="DM Sans"/>
              </a:rPr>
              <a:t>Carga CSV e inferencia de esquema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2350" y="1457325"/>
            <a:ext cx="28575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D87014"/>
                </a:solidFill>
                <a:latin typeface="DM Sans"/>
              </a:rPr>
              <a:t>PASO 2 · LIMPIEZA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2350" y="1666875"/>
            <a:ext cx="238125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FFFFFF"/>
                </a:solidFill>
                <a:latin typeface="DM Sans"/>
              </a:rPr>
              <a:t>Casteo de tipos (59.091 válidos)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3650" y="1457325"/>
            <a:ext cx="28575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D87014"/>
                </a:solidFill>
                <a:latin typeface="DM Sans"/>
              </a:rPr>
              <a:t>PASO 3 · TRANSFORMACIÓN RDD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3650" y="1666875"/>
            <a:ext cx="238125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FFFFFF"/>
                </a:solidFill>
                <a:latin typeface="DM Sans"/>
              </a:rPr>
              <a:t>Filtro PM2.5 y media departamental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4950" y="1457325"/>
            <a:ext cx="28575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D87014"/>
                </a:solidFill>
                <a:latin typeface="DM Sans"/>
              </a:rPr>
              <a:t>PASO 4 · ANALÍTICA SQL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4950" y="1666875"/>
            <a:ext cx="238125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FFFFFF"/>
                </a:solidFill>
                <a:latin typeface="DM Sans"/>
              </a:rPr>
              <a:t>DataFrames y Window Functions</a:t>
            </a:r>
          </a:p>
        </p:txBody>
      </p:sp>
      <p:pic>
        <p:nvPicPr>
          <p:cNvPr id="17" name="Picture 16" descr="figura1_pm_departamen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" y="2468880"/>
            <a:ext cx="5349240" cy="4023360"/>
          </a:xfrm>
          <a:prstGeom prst="rect">
            <a:avLst/>
          </a:prstGeom>
        </p:spPr>
      </p:pic>
      <p:pic>
        <p:nvPicPr>
          <p:cNvPr id="18" name="Picture 17" descr="figura3_top_estaciones_critic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2468880"/>
            <a:ext cx="534924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1285875"/>
            <a:ext cx="2600325" cy="1362075"/>
          </a:xfrm>
          <a:prstGeom prst="roundRect">
            <a:avLst>
              <a:gd name="adj" fmla="val 8391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400425" y="1285875"/>
            <a:ext cx="2600325" cy="1362075"/>
          </a:xfrm>
          <a:prstGeom prst="roundRect">
            <a:avLst>
              <a:gd name="adj" fmla="val 8391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191250" y="1285875"/>
            <a:ext cx="2600325" cy="1362075"/>
          </a:xfrm>
          <a:prstGeom prst="roundRect">
            <a:avLst>
              <a:gd name="adj" fmla="val 8391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982075" y="1285875"/>
            <a:ext cx="2600325" cy="1362075"/>
          </a:xfrm>
          <a:prstGeom prst="roundRect">
            <a:avLst>
              <a:gd name="adj" fmla="val 8391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09600" y="3800475"/>
            <a:ext cx="5372100" cy="1676400"/>
          </a:xfrm>
          <a:prstGeom prst="roundRect">
            <a:avLst>
              <a:gd name="adj" fmla="val 6818"/>
            </a:avLst>
          </a:prstGeom>
          <a:solidFill>
            <a:srgbClr val="F8FAFC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0300" y="3800475"/>
            <a:ext cx="5372100" cy="1676400"/>
          </a:xfrm>
          <a:prstGeom prst="roundRect">
            <a:avLst>
              <a:gd name="adj" fmla="val 6818"/>
            </a:avLst>
          </a:prstGeom>
          <a:solidFill>
            <a:srgbClr val="F8FAFC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D87014"/>
                </a:solidFill>
                <a:latin typeface="DM Sans"/>
              </a:rPr>
              <a:t>04 · HALLAZGOS ESTADÍSTICOS Y AMBIENTALES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685800"/>
            <a:ext cx="11582400" cy="4095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2550" i="0" u="none">
                <a:solidFill>
                  <a:srgbClr val="002855"/>
                </a:solidFill>
                <a:latin typeface="Space Grotesk"/>
              </a:rPr>
              <a:t>Análisis Exploratorio (EDA) y Correlación Climática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457325"/>
            <a:ext cx="2678906" cy="523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3150" i="0" u="none">
                <a:solidFill>
                  <a:srgbClr val="002855"/>
                </a:solidFill>
                <a:latin typeface="DM Sans"/>
              </a:rPr>
              <a:t>70.6%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2019300"/>
            <a:ext cx="2678906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334155"/>
                </a:solidFill>
                <a:latin typeface="DM Sans"/>
              </a:rPr>
              <a:t>ICA Buena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29025" y="1457325"/>
            <a:ext cx="2678906" cy="523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3150" i="0" u="none">
                <a:solidFill>
                  <a:srgbClr val="002855"/>
                </a:solidFill>
                <a:latin typeface="DM Sans"/>
              </a:rPr>
              <a:t>26.3%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9025" y="2019300"/>
            <a:ext cx="2678906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334155"/>
                </a:solidFill>
                <a:latin typeface="DM Sans"/>
              </a:rPr>
              <a:t>ICA Aceptable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9850" y="1457325"/>
            <a:ext cx="2678906" cy="523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3150" i="0" u="none">
                <a:solidFill>
                  <a:srgbClr val="D87014"/>
                </a:solidFill>
                <a:latin typeface="DM Sans"/>
              </a:rPr>
              <a:t>2.9%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850" y="2019300"/>
            <a:ext cx="22383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334155"/>
                </a:solidFill>
                <a:latin typeface="DM Sans"/>
              </a:rPr>
              <a:t>Dañina a Grupos Sensibles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10675" y="1457325"/>
            <a:ext cx="2678906" cy="523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3150" i="0" u="none">
                <a:solidFill>
                  <a:srgbClr val="B91C1C"/>
                </a:solidFill>
                <a:latin typeface="DM Sans"/>
              </a:rPr>
              <a:t>0.1%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10675" y="2019300"/>
            <a:ext cx="2678906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334155"/>
                </a:solidFill>
                <a:latin typeface="DM Sans"/>
              </a:rPr>
              <a:t>ICA Dañina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5350" y="4086225"/>
            <a:ext cx="6000750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95350" y="4371975"/>
            <a:ext cx="6300787" cy="266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50" i="0" u="none">
                <a:solidFill>
                  <a:srgbClr val="002855"/>
                </a:solidFill>
                <a:latin typeface="Space Grotesk"/>
              </a:rPr>
              <a:t>Comportamiento Nacional del Índice ICA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5350" y="4733925"/>
            <a:ext cx="489585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334155"/>
                </a:solidFill>
                <a:latin typeface="DM Sans"/>
              </a:rPr>
              <a:t>Predominio de calidad favorable (96.9% acumulada entre Buena y Aceptable) con alertas focalizadas del 3.0%.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6050" y="4086225"/>
            <a:ext cx="5695950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96050" y="4371975"/>
            <a:ext cx="5695950" cy="266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50" i="0" u="none">
                <a:solidFill>
                  <a:srgbClr val="002855"/>
                </a:solidFill>
                <a:latin typeface="Space Grotesk"/>
              </a:rPr>
              <a:t>Inversión Térmica Comprobada Empíricamente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6050" y="4733925"/>
            <a:ext cx="489585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334155"/>
                </a:solidFill>
                <a:latin typeface="DM Sans"/>
              </a:rPr>
              <a:t>Bajas temperaturas combinadas con humedad relativa superior al 70% encapsulan los picos críticos de PM2.5.</a:t>
            </a:r>
          </a:p>
        </p:txBody>
      </p:sp>
      <p:pic>
        <p:nvPicPr>
          <p:cNvPr id="24" name="Picture 23" descr="figura2_distribucion_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2926080"/>
            <a:ext cx="3200400" cy="3200400"/>
          </a:xfrm>
          <a:prstGeom prst="rect">
            <a:avLst/>
          </a:prstGeom>
        </p:spPr>
      </p:pic>
      <p:pic>
        <p:nvPicPr>
          <p:cNvPr id="25" name="Picture 24" descr="figura4_dispersion_clima_contaminac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2926080"/>
            <a:ext cx="521208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5038725"/>
            <a:ext cx="10972800" cy="1362075"/>
          </a:xfrm>
          <a:prstGeom prst="roundRect">
            <a:avLst>
              <a:gd name="adj" fmla="val 9790"/>
            </a:avLst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9600" y="1323975"/>
            <a:ext cx="3319462" cy="1800225"/>
          </a:xfrm>
          <a:prstGeom prst="roundRect">
            <a:avLst>
              <a:gd name="adj" fmla="val 6349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57662" y="1323975"/>
            <a:ext cx="3319462" cy="1800225"/>
          </a:xfrm>
          <a:prstGeom prst="roundRect">
            <a:avLst>
              <a:gd name="adj" fmla="val 6349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05725" y="1323975"/>
            <a:ext cx="3876675" cy="1800225"/>
          </a:xfrm>
          <a:prstGeom prst="roundRect">
            <a:avLst>
              <a:gd name="adj" fmla="val 6349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D87014"/>
                </a:solidFill>
                <a:latin typeface="DM Sans"/>
              </a:rPr>
              <a:t>05 · ARQUITECTURA EN TIEMPO REAL (ANEXO 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85800"/>
            <a:ext cx="11582400" cy="4095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2550" i="0" u="none">
                <a:solidFill>
                  <a:srgbClr val="002855"/>
                </a:solidFill>
                <a:latin typeface="Space Grotesk"/>
              </a:rPr>
              <a:t>Procesamiento Streaming con Apache Kafka y Spark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6300" y="1590675"/>
            <a:ext cx="3482578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D87014"/>
                </a:solidFill>
                <a:latin typeface="DM Sans"/>
              </a:rPr>
              <a:t>1 · PRODUCTOR IOT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300" y="1819275"/>
            <a:ext cx="3656707" cy="2571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575" i="0" u="none">
                <a:solidFill>
                  <a:srgbClr val="002855"/>
                </a:solidFill>
                <a:latin typeface="Space Grotesk"/>
              </a:rPr>
              <a:t>kafka_producer.py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300" y="2171700"/>
            <a:ext cx="288131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334155"/>
                </a:solidFill>
                <a:latin typeface="DM Sans"/>
              </a:rPr>
              <a:t>Emisión continua segundo a segundo de telemetría sintética en JSON.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4362" y="1590675"/>
            <a:ext cx="3482578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D87014"/>
                </a:solidFill>
                <a:latin typeface="DM Sans"/>
              </a:rPr>
              <a:t>2 · BROKER DISTRIBUIDO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4362" y="1819275"/>
            <a:ext cx="3656707" cy="2571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575" i="0" u="none">
                <a:solidFill>
                  <a:srgbClr val="002855"/>
                </a:solidFill>
                <a:latin typeface="Space Grotesk"/>
              </a:rPr>
              <a:t>Cluster Kafka + ZooKeeper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4362" y="2171700"/>
            <a:ext cx="288131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334155"/>
                </a:solidFill>
                <a:latin typeface="DM Sans"/>
              </a:rPr>
              <a:t>Topic particionado </a:t>
            </a:r>
            <a:r>
              <a:rPr b="0" sz="1350" i="0" u="none">
                <a:solidFill>
                  <a:srgbClr val="334155"/>
                </a:solidFill>
                <a:latin typeface="DM Sans"/>
              </a:rPr>
              <a:t>sensor_data</a:t>
            </a:r>
            <a:r>
              <a:rPr b="0" sz="1350" i="0" u="none">
                <a:solidFill>
                  <a:srgbClr val="334155"/>
                </a:solidFill>
                <a:latin typeface="DM Sans"/>
              </a:rPr>
              <a:t> activo en Linux sobre </a:t>
            </a:r>
            <a:r>
              <a:rPr b="0" sz="1350" i="0" u="none">
                <a:solidFill>
                  <a:srgbClr val="334155"/>
                </a:solidFill>
                <a:latin typeface="DM Sans"/>
              </a:rPr>
              <a:t>localhost:9092</a:t>
            </a:r>
            <a:r>
              <a:rPr b="0" sz="1350" i="0" u="none">
                <a:solidFill>
                  <a:srgbClr val="334155"/>
                </a:solidFill>
                <a:latin typeface="DM Sans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72425" y="1590675"/>
            <a:ext cx="4179093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D87014"/>
                </a:solidFill>
                <a:latin typeface="DM Sans"/>
              </a:rPr>
              <a:t>3 · STRUCTURED STREAMING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72425" y="1819275"/>
            <a:ext cx="4219575" cy="2571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575" i="0" u="none">
                <a:solidFill>
                  <a:srgbClr val="002855"/>
                </a:solidFill>
                <a:latin typeface="Space Grotesk"/>
              </a:rPr>
              <a:t>spark_streaming_consumer.py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72425" y="2171700"/>
            <a:ext cx="343852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334155"/>
                </a:solidFill>
                <a:latin typeface="DM Sans"/>
              </a:rPr>
              <a:t>Agregación en ventanas de 1 minuto con </a:t>
            </a:r>
            <a:r>
              <a:rPr b="0" sz="1350" i="0" u="none">
                <a:solidFill>
                  <a:srgbClr val="334155"/>
                </a:solidFill>
                <a:latin typeface="DM Sans"/>
              </a:rPr>
              <a:t>groupBy(window(...), 'sensor_id')</a:t>
            </a:r>
            <a:r>
              <a:rPr b="0" sz="1350" i="0" u="none">
                <a:solidFill>
                  <a:srgbClr val="334155"/>
                </a:solidFill>
                <a:latin typeface="DM Sans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5305425"/>
            <a:ext cx="99060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2500" y="5534025"/>
            <a:ext cx="10401300" cy="295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52500" y="5905500"/>
            <a:ext cx="990600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953625" y="5395912"/>
            <a:ext cx="1285875" cy="4476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953625" y="5843587"/>
            <a:ext cx="1285875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/>
        </p:txBody>
      </p:sp>
      <p:pic>
        <p:nvPicPr>
          <p:cNvPr id="22" name="Picture 21" descr="figura5_streaming_kafka_sp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3291840"/>
            <a:ext cx="1097280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85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4953000"/>
            <a:ext cx="10972800" cy="1447800"/>
          </a:xfrm>
          <a:prstGeom prst="roundRect">
            <a:avLst>
              <a:gd name="adj" fmla="val 921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9600" y="2243137"/>
            <a:ext cx="3505200" cy="1562100"/>
          </a:xfrm>
          <a:prstGeom prst="roundRect">
            <a:avLst>
              <a:gd name="adj" fmla="val 7317"/>
            </a:avLst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343400" y="2243137"/>
            <a:ext cx="3505200" cy="1562100"/>
          </a:xfrm>
          <a:prstGeom prst="roundRect">
            <a:avLst>
              <a:gd name="adj" fmla="val 7317"/>
            </a:avLst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077200" y="2243137"/>
            <a:ext cx="3505200" cy="1562100"/>
          </a:xfrm>
          <a:prstGeom prst="roundRect">
            <a:avLst>
              <a:gd name="adj" fmla="val 7317"/>
            </a:avLst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5200650"/>
            <a:ext cx="133350" cy="13335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753100"/>
            <a:ext cx="152400" cy="1333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D87014"/>
                </a:solidFill>
                <a:latin typeface="DM Sans"/>
              </a:rPr>
              <a:t>06 · CIERRE, ENTREGABLES Y SUSTENTACIÓN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685800"/>
            <a:ext cx="11582400" cy="4095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2550" i="0" u="none">
                <a:solidFill>
                  <a:srgbClr val="FFFFFF"/>
                </a:solidFill>
                <a:latin typeface="Space Grotesk"/>
              </a:rPr>
              <a:t>Recursos del Proyecto, Conclusiones y Video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300" y="2509837"/>
            <a:ext cx="3900487" cy="2476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500" i="0" u="none">
                <a:solidFill>
                  <a:srgbClr val="D87014"/>
                </a:solidFill>
                <a:latin typeface="Space Grotesk"/>
              </a:rPr>
              <a:t>1 · Velocidad en Memoria RAM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6300" y="2852737"/>
            <a:ext cx="306705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F1F5F9"/>
                </a:solidFill>
                <a:latin typeface="DM Sans"/>
              </a:rPr>
              <a:t>Apache Spark elimina los cuellos de botella por I/O en disco tradicionales de Hadoop.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0100" y="2509837"/>
            <a:ext cx="3900487" cy="2476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500" i="0" u="none">
                <a:solidFill>
                  <a:srgbClr val="D87014"/>
                </a:solidFill>
                <a:latin typeface="Space Grotesk"/>
              </a:rPr>
              <a:t>2 · Optimización Avanzada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0100" y="2852737"/>
            <a:ext cx="306705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F1F5F9"/>
                </a:solidFill>
                <a:latin typeface="DM Sans"/>
              </a:rPr>
              <a:t>Catalyst y Tungsten convierten a los DataFrames en la abstracción más eficiente y escalable.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43900" y="2509837"/>
            <a:ext cx="3848100" cy="2476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500" i="0" u="none">
                <a:solidFill>
                  <a:srgbClr val="D87014"/>
                </a:solidFill>
                <a:latin typeface="Space Grotesk"/>
              </a:rPr>
              <a:t>3 · Desacoplamiento Streaming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3900" y="2852737"/>
            <a:ext cx="306705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F1F5F9"/>
                </a:solidFill>
                <a:latin typeface="DM Sans"/>
              </a:rPr>
              <a:t>Apache Kafka amortigua ráfagas de telemetría IoT con alta elasticidad y tolerancia a fallos.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181600"/>
            <a:ext cx="8405812" cy="171450"/>
          </a:xfrm>
          <a:prstGeom prst="rect">
            <a:avLst/>
          </a:prstGeom>
          <a:noFill/>
        </p:spPr>
        <p:txBody>
          <a:bodyPr wrap="none" lIns="19050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D87014"/>
                </a:solidFill>
                <a:latin typeface="DM Sans"/>
              </a:rPr>
              <a:t>REPOSITORIO OFICIAL DEL PROYECTO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391150"/>
            <a:ext cx="8405812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t>https://github.com/paulodelosrey/UNAD-BigData-Tarea3-Spark-Streaming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734050"/>
            <a:ext cx="8405812" cy="171450"/>
          </a:xfrm>
          <a:prstGeom prst="rect">
            <a:avLst/>
          </a:prstGeom>
          <a:noFill/>
        </p:spPr>
        <p:txBody>
          <a:bodyPr wrap="none" lIns="20955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D87014"/>
                </a:solidFill>
                <a:latin typeface="DM Sans"/>
              </a:rPr>
              <a:t>ENLACE AL VIDEO DE SUSTENTACIÓN (MÁX. 5 MINUTOS)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943600"/>
            <a:ext cx="8405812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02855"/>
                </a:solidFill>
                <a:latin typeface="DM Sans"/>
              </a:rPr>
              <a:t>[Pegar enlace del video de máximo 5 minutos]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62912" y="5443537"/>
            <a:ext cx="3214687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b="1" sz="1350" i="0" u="none">
                <a:solidFill>
                  <a:srgbClr val="002855"/>
                </a:solidFill>
                <a:latin typeface="DM Sans"/>
              </a:rPr>
              <a:t>Paulo Andrés De los Reyes 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62912" y="5710237"/>
            <a:ext cx="3214687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b="0" sz="1200" i="0" u="none">
                <a:solidFill>
                  <a:srgbClr val="475569"/>
                </a:solidFill>
                <a:latin typeface="DM Sans"/>
              </a:rPr>
              <a:t>UNAD · Ingeniería de Sistemas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